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5143500" cx="9144000"/>
  <p:notesSz cx="5143500" cy="9144000"/>
  <p:embeddedFontLst>
    <p:embeddedFont>
      <p:font typeface="Arial Black"/>
      <p:regular r:id="rId1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schemas.openxmlformats.org/officeDocument/2006/relationships/font" Target="fonts/ArialBlack-regular.fntdata"/><Relationship Id="rId10" Type="http://schemas.openxmlformats.org/officeDocument/2006/relationships/slide" Target="slides/slide6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" name="Google Shape;4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9" name="Google Shape;23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mc:AlternateContent>
    <mc:Choice Requires="p14">
      <p:transition spd="med">
        <p14:flip dir="l"/>
      </p:transition>
    </mc:Choice>
    <mc:Fallback>
      <p:transition spd="med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3.jpg"/><Relationship Id="rId5" Type="http://schemas.openxmlformats.org/officeDocument/2006/relationships/image" Target="../media/image10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8.png"/><Relationship Id="rId5" Type="http://schemas.openxmlformats.org/officeDocument/2006/relationships/image" Target="../media/image5.png"/><Relationship Id="rId6" Type="http://schemas.openxmlformats.org/officeDocument/2006/relationships/image" Target="../media/image7.png"/><Relationship Id="rId7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B4B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-1019375" y="-1097275"/>
            <a:ext cx="4114800" cy="4114800"/>
          </a:xfrm>
          <a:prstGeom prst="ellipse">
            <a:avLst/>
          </a:prstGeom>
          <a:solidFill>
            <a:srgbClr val="7C3AED">
              <a:alpha val="45098"/>
            </a:srgbClr>
          </a:solidFill>
          <a:ln cap="flat" cmpd="sng" w="12700">
            <a:solidFill>
              <a:srgbClr val="7C3AED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6858000" y="2286000"/>
            <a:ext cx="3657600" cy="3657600"/>
          </a:xfrm>
          <a:prstGeom prst="ellipse">
            <a:avLst/>
          </a:prstGeom>
          <a:solidFill>
            <a:srgbClr val="EC4899">
              <a:alpha val="34901"/>
            </a:srgbClr>
          </a:solidFill>
          <a:ln cap="flat" cmpd="sng" w="12700">
            <a:solidFill>
              <a:srgbClr val="EC4899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3200400" y="3200400"/>
            <a:ext cx="2743200" cy="2743200"/>
          </a:xfrm>
          <a:prstGeom prst="ellipse">
            <a:avLst/>
          </a:prstGeom>
          <a:solidFill>
            <a:srgbClr val="06B6D4">
              <a:alpha val="27843"/>
            </a:srgbClr>
          </a:solidFill>
          <a:ln cap="flat" cmpd="sng" w="12700">
            <a:solidFill>
              <a:srgbClr val="06B6D4">
                <a:alpha val="2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7772400" y="-457200"/>
            <a:ext cx="2286000" cy="2286000"/>
          </a:xfrm>
          <a:prstGeom prst="ellipse">
            <a:avLst/>
          </a:prstGeom>
          <a:solidFill>
            <a:srgbClr val="FBBF24">
              <a:alpha val="40000"/>
            </a:srgbClr>
          </a:solidFill>
          <a:ln cap="flat" cmpd="sng" w="12700">
            <a:solidFill>
              <a:srgbClr val="FBBF24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137160" y="274320"/>
            <a:ext cx="164592" cy="164592"/>
          </a:xfrm>
          <a:prstGeom prst="ellipse">
            <a:avLst/>
          </a:prstGeom>
          <a:solidFill>
            <a:srgbClr val="FBBF24">
              <a:alpha val="70196"/>
            </a:srgbClr>
          </a:solidFill>
          <a:ln cap="flat" cmpd="sng" w="12700">
            <a:solidFill>
              <a:srgbClr val="FBB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8869680" y="457200"/>
            <a:ext cx="118872" cy="118872"/>
          </a:xfrm>
          <a:prstGeom prst="ellipse">
            <a:avLst/>
          </a:prstGeom>
          <a:solidFill>
            <a:srgbClr val="EC4899">
              <a:alpha val="70196"/>
            </a:srgbClr>
          </a:solidFill>
          <a:ln cap="flat" cmpd="sng" w="12700">
            <a:solidFill>
              <a:srgbClr val="EC48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365760" y="4480560"/>
            <a:ext cx="137160" cy="137160"/>
          </a:xfrm>
          <a:prstGeom prst="ellipse">
            <a:avLst/>
          </a:prstGeom>
          <a:solidFill>
            <a:srgbClr val="06B6D4">
              <a:alpha val="70196"/>
            </a:srgbClr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/>
          <p:nvPr/>
        </p:nvSpPr>
        <p:spPr>
          <a:xfrm>
            <a:off x="8686800" y="4206240"/>
            <a:ext cx="182880" cy="182880"/>
          </a:xfrm>
          <a:prstGeom prst="ellipse">
            <a:avLst/>
          </a:prstGeom>
          <a:solidFill>
            <a:srgbClr val="F97316">
              <a:alpha val="70196"/>
            </a:srgbClr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4572000" y="4754880"/>
            <a:ext cx="109728" cy="109728"/>
          </a:xfrm>
          <a:prstGeom prst="ellipse">
            <a:avLst/>
          </a:prstGeom>
          <a:solidFill>
            <a:srgbClr val="10B981">
              <a:alpha val="70196"/>
            </a:srgbClr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3"/>
          <p:cNvSpPr/>
          <p:nvPr/>
        </p:nvSpPr>
        <p:spPr>
          <a:xfrm>
            <a:off x="2560320" y="137160"/>
            <a:ext cx="91440" cy="91440"/>
          </a:xfrm>
          <a:prstGeom prst="ellipse">
            <a:avLst/>
          </a:prstGeom>
          <a:solidFill>
            <a:srgbClr val="EC4899">
              <a:alpha val="70196"/>
            </a:srgbClr>
          </a:solidFill>
          <a:ln cap="flat" cmpd="sng" w="12700">
            <a:solidFill>
              <a:srgbClr val="EC48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3"/>
          <p:cNvSpPr/>
          <p:nvPr/>
        </p:nvSpPr>
        <p:spPr>
          <a:xfrm>
            <a:off x="6858000" y="4846320"/>
            <a:ext cx="128016" cy="128016"/>
          </a:xfrm>
          <a:prstGeom prst="ellipse">
            <a:avLst/>
          </a:prstGeom>
          <a:solidFill>
            <a:srgbClr val="FBBF24">
              <a:alpha val="70196"/>
            </a:srgbClr>
          </a:solidFill>
          <a:ln cap="flat" cmpd="sng" w="12700">
            <a:solidFill>
              <a:srgbClr val="FBB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3"/>
          <p:cNvSpPr/>
          <p:nvPr/>
        </p:nvSpPr>
        <p:spPr>
          <a:xfrm>
            <a:off x="8412480" y="2286000"/>
            <a:ext cx="91440" cy="91440"/>
          </a:xfrm>
          <a:prstGeom prst="ellipse">
            <a:avLst/>
          </a:prstGeom>
          <a:solidFill>
            <a:srgbClr val="06B6D4">
              <a:alpha val="70196"/>
            </a:srgbClr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3"/>
          <p:cNvSpPr/>
          <p:nvPr/>
        </p:nvSpPr>
        <p:spPr>
          <a:xfrm>
            <a:off x="182880" y="2560320"/>
            <a:ext cx="109728" cy="109728"/>
          </a:xfrm>
          <a:prstGeom prst="ellipse">
            <a:avLst/>
          </a:prstGeom>
          <a:solidFill>
            <a:srgbClr val="F97316">
              <a:alpha val="70196"/>
            </a:srgbClr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3"/>
          <p:cNvSpPr/>
          <p:nvPr/>
        </p:nvSpPr>
        <p:spPr>
          <a:xfrm>
            <a:off x="4069545" y="4553718"/>
            <a:ext cx="2194500" cy="438900"/>
          </a:xfrm>
          <a:prstGeom prst="roundRect">
            <a:avLst>
              <a:gd fmla="val 45833" name="adj"/>
            </a:avLst>
          </a:prstGeom>
          <a:solidFill>
            <a:srgbClr val="FBBF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3"/>
          <p:cNvSpPr/>
          <p:nvPr/>
        </p:nvSpPr>
        <p:spPr>
          <a:xfrm>
            <a:off x="3877095" y="4553718"/>
            <a:ext cx="21945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2025 — 2026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1052000" y="1074415"/>
            <a:ext cx="82296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 Black"/>
              <a:buNone/>
            </a:pPr>
            <a:r>
              <a:rPr b="1" i="0" lang="en-US" sz="72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BANQUE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1454400" y="1824453"/>
            <a:ext cx="82296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7200"/>
              <a:buFont typeface="Arial Black"/>
              <a:buNone/>
            </a:pPr>
            <a:r>
              <a:rPr b="1" i="0" lang="en-US" sz="7200" u="none" cap="none" strike="noStrike">
                <a:solidFill>
                  <a:srgbClr val="FBBF24"/>
                </a:solidFill>
                <a:latin typeface="Arial Black"/>
                <a:ea typeface="Arial Black"/>
                <a:cs typeface="Arial Black"/>
                <a:sym typeface="Arial Black"/>
              </a:rPr>
              <a:t>DIGITALE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3"/>
          <p:cNvSpPr/>
          <p:nvPr/>
        </p:nvSpPr>
        <p:spPr>
          <a:xfrm>
            <a:off x="457200" y="3017520"/>
            <a:ext cx="5303520" cy="475488"/>
          </a:xfrm>
          <a:prstGeom prst="roundRect">
            <a:avLst>
              <a:gd fmla="val 48077" name="adj"/>
            </a:avLst>
          </a:prstGeom>
          <a:solidFill>
            <a:srgbClr val="7C3A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3"/>
          <p:cNvSpPr/>
          <p:nvPr/>
        </p:nvSpPr>
        <p:spPr>
          <a:xfrm>
            <a:off x="274325" y="2926083"/>
            <a:ext cx="53034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✨ </a:t>
            </a: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Système Bancaire Java — Orienté Objet</a:t>
            </a: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✨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3"/>
          <p:cNvSpPr/>
          <p:nvPr/>
        </p:nvSpPr>
        <p:spPr>
          <a:xfrm>
            <a:off x="6373450" y="3328413"/>
            <a:ext cx="26151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4899"/>
              </a:buClr>
              <a:buSzPts val="1900"/>
              <a:buFont typeface="Calibri"/>
              <a:buNone/>
            </a:pPr>
            <a:r>
              <a:rPr b="1" i="1" lang="en-US" sz="2300" u="none" cap="none" strike="noStrike">
                <a:solidFill>
                  <a:srgbClr val="EC4899"/>
                </a:solidFill>
                <a:latin typeface="Calibri"/>
                <a:ea typeface="Calibri"/>
                <a:cs typeface="Calibri"/>
                <a:sym typeface="Calibri"/>
              </a:rPr>
              <a:t>Sirine Jemai</a:t>
            </a:r>
            <a:endParaRPr b="0" i="1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3"/>
          <p:cNvSpPr/>
          <p:nvPr/>
        </p:nvSpPr>
        <p:spPr>
          <a:xfrm>
            <a:off x="6986025" y="3731938"/>
            <a:ext cx="8910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CC"/>
              </a:buClr>
              <a:buSzPts val="1600"/>
              <a:buFont typeface="Calibri"/>
              <a:buNone/>
            </a:pPr>
            <a:r>
              <a:rPr b="1" i="0" lang="en-US" sz="2700" u="none" cap="none" strike="noStrike">
                <a:solidFill>
                  <a:srgbClr val="AAAACC"/>
                </a:solidFill>
                <a:latin typeface="Calibri"/>
                <a:ea typeface="Calibri"/>
                <a:cs typeface="Calibri"/>
                <a:sym typeface="Calibri"/>
              </a:rPr>
              <a:t>&amp;</a:t>
            </a:r>
            <a:endParaRPr b="1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3"/>
          <p:cNvSpPr/>
          <p:nvPr/>
        </p:nvSpPr>
        <p:spPr>
          <a:xfrm>
            <a:off x="7086605" y="3931925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900"/>
              <a:buFont typeface="Calibri"/>
              <a:buNone/>
            </a:pPr>
            <a:r>
              <a:rPr b="1" i="1" lang="en-US" sz="2400" u="none" cap="none" strike="noStrik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Alaa Fessi</a:t>
            </a:r>
            <a:endParaRPr b="0" i="1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3"/>
          <p:cNvSpPr/>
          <p:nvPr/>
        </p:nvSpPr>
        <p:spPr>
          <a:xfrm>
            <a:off x="1052000" y="3611882"/>
            <a:ext cx="54864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CC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9999CC"/>
                </a:solidFill>
                <a:latin typeface="Calibri"/>
                <a:ea typeface="Calibri"/>
                <a:cs typeface="Calibri"/>
                <a:sym typeface="Calibri"/>
              </a:rPr>
              <a:t>ISET Médenine  •  Université de Gabès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9" name="Google Shape;3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47" y="240299"/>
            <a:ext cx="891000" cy="89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" name="Google Shape;40;p3" title="WhatsApp Image 2026-05-12 at 7.45.39 AM (1)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06650" y="256900"/>
            <a:ext cx="1117601" cy="1023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" name="Google Shape;41;p3" title="WhatsApp Image 2026-05-12 at 7.45.39 AM.jpe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60326" y="303100"/>
            <a:ext cx="1117599" cy="1023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4FF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4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4"/>
          <p:cNvSpPr/>
          <p:nvPr/>
        </p:nvSpPr>
        <p:spPr>
          <a:xfrm>
            <a:off x="-274320" y="548640"/>
            <a:ext cx="1645920" cy="1645920"/>
          </a:xfrm>
          <a:prstGeom prst="ellipse">
            <a:avLst/>
          </a:prstGeom>
          <a:solidFill>
            <a:srgbClr val="EC4899">
              <a:alpha val="60000"/>
            </a:srgbClr>
          </a:solidFill>
          <a:ln cap="flat" cmpd="sng" w="12700">
            <a:solidFill>
              <a:srgbClr val="EC4899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457200" y="45720"/>
            <a:ext cx="73152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🤔  PROBLÉMATIQUE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457200" y="64008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D0FF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DDD0FF"/>
                </a:solidFill>
                <a:latin typeface="Calibri"/>
                <a:ea typeface="Calibri"/>
                <a:cs typeface="Calibri"/>
                <a:sym typeface="Calibri"/>
              </a:rPr>
              <a:t>Pourquoi cette application 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256032" y="1234440"/>
            <a:ext cx="2788920" cy="3566160"/>
          </a:xfrm>
          <a:prstGeom prst="roundRect">
            <a:avLst>
              <a:gd fmla="val 5902" name="adj"/>
            </a:avLst>
          </a:prstGeom>
          <a:solidFill>
            <a:srgbClr val="FFFFFF"/>
          </a:solidFill>
          <a:ln>
            <a:noFill/>
          </a:ln>
          <a:effectLst>
            <a:outerShdw blurRad="152400" rotWithShape="0" algn="bl" dir="8100000" dist="50800">
              <a:srgbClr val="7C3AED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56032" y="1234440"/>
            <a:ext cx="2788920" cy="1051560"/>
          </a:xfrm>
          <a:prstGeom prst="roundRect">
            <a:avLst>
              <a:gd fmla="val 15652" name="adj"/>
            </a:avLst>
          </a:prstGeom>
          <a:solidFill>
            <a:srgbClr val="7C3A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/>
          <p:nvPr/>
        </p:nvSpPr>
        <p:spPr>
          <a:xfrm>
            <a:off x="256032" y="1920240"/>
            <a:ext cx="2788920" cy="365760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4" name="Google Shape;5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71600" y="137160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4"/>
          <p:cNvSpPr/>
          <p:nvPr/>
        </p:nvSpPr>
        <p:spPr>
          <a:xfrm>
            <a:off x="365760" y="2377440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🔒 </a:t>
            </a:r>
            <a:r>
              <a:rPr b="1" i="0" lang="en-US" sz="175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Accès Limité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384048" y="2907792"/>
            <a:ext cx="2523744" cy="1691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44466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444466"/>
                </a:solidFill>
                <a:latin typeface="Calibri"/>
                <a:ea typeface="Calibri"/>
                <a:cs typeface="Calibri"/>
                <a:sym typeface="Calibri"/>
              </a:rPr>
              <a:t>Les services bancaires classiques manquent d'accessibilité numérique pour les étudiants et jeunes actifs.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3163824" y="1234440"/>
            <a:ext cx="2788920" cy="3566160"/>
          </a:xfrm>
          <a:prstGeom prst="roundRect">
            <a:avLst>
              <a:gd fmla="val 5902" name="adj"/>
            </a:avLst>
          </a:prstGeom>
          <a:solidFill>
            <a:srgbClr val="FFFFFF"/>
          </a:solidFill>
          <a:ln>
            <a:noFill/>
          </a:ln>
          <a:effectLst>
            <a:outerShdw blurRad="152400" rotWithShape="0" algn="bl" dir="8100000" dist="50800">
              <a:srgbClr val="EC4899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4"/>
          <p:cNvSpPr/>
          <p:nvPr/>
        </p:nvSpPr>
        <p:spPr>
          <a:xfrm>
            <a:off x="3163824" y="1234440"/>
            <a:ext cx="2788920" cy="1051560"/>
          </a:xfrm>
          <a:prstGeom prst="roundRect">
            <a:avLst>
              <a:gd fmla="val 15652" name="adj"/>
            </a:avLst>
          </a:prstGeom>
          <a:solidFill>
            <a:srgbClr val="EC48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4"/>
          <p:cNvSpPr/>
          <p:nvPr/>
        </p:nvSpPr>
        <p:spPr>
          <a:xfrm>
            <a:off x="3163824" y="1920240"/>
            <a:ext cx="2788920" cy="365760"/>
          </a:xfrm>
          <a:prstGeom prst="rect">
            <a:avLst/>
          </a:prstGeom>
          <a:solidFill>
            <a:srgbClr val="EC4899"/>
          </a:solidFill>
          <a:ln cap="flat" cmpd="sng" w="12700">
            <a:solidFill>
              <a:srgbClr val="EC48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0" name="Google Shape;60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79392" y="137160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4"/>
          <p:cNvSpPr/>
          <p:nvPr/>
        </p:nvSpPr>
        <p:spPr>
          <a:xfrm>
            <a:off x="3273552" y="2377440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C4899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EC4899"/>
                </a:solidFill>
                <a:latin typeface="Calibri"/>
                <a:ea typeface="Calibri"/>
                <a:cs typeface="Calibri"/>
                <a:sym typeface="Calibri"/>
              </a:rPr>
              <a:t>📊 </a:t>
            </a:r>
            <a:r>
              <a:rPr b="1" i="0" lang="en-US" sz="1650" u="none" cap="none" strike="noStrike">
                <a:solidFill>
                  <a:srgbClr val="EC4899"/>
                </a:solidFill>
                <a:latin typeface="Calibri"/>
                <a:ea typeface="Calibri"/>
                <a:cs typeface="Calibri"/>
                <a:sym typeface="Calibri"/>
              </a:rPr>
              <a:t>Gestion Complexe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3291840" y="2907792"/>
            <a:ext cx="2523744" cy="1691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44466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444466"/>
                </a:solidFill>
                <a:latin typeface="Calibri"/>
                <a:ea typeface="Calibri"/>
                <a:cs typeface="Calibri"/>
                <a:sym typeface="Calibri"/>
              </a:rPr>
              <a:t>Aucun outil pédagogique ne simule fidèlement la gestion multi-comptes, prêts et virements en temps réel.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4"/>
          <p:cNvSpPr/>
          <p:nvPr/>
        </p:nvSpPr>
        <p:spPr>
          <a:xfrm>
            <a:off x="6071616" y="1234440"/>
            <a:ext cx="2788920" cy="3566160"/>
          </a:xfrm>
          <a:prstGeom prst="roundRect">
            <a:avLst>
              <a:gd fmla="val 5902" name="adj"/>
            </a:avLst>
          </a:prstGeom>
          <a:solidFill>
            <a:srgbClr val="FFFFFF"/>
          </a:solidFill>
          <a:ln>
            <a:noFill/>
          </a:ln>
          <a:effectLst>
            <a:outerShdw blurRad="152400" rotWithShape="0" algn="bl" dir="8100000" dist="50800">
              <a:srgbClr val="06B6D4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4"/>
          <p:cNvSpPr/>
          <p:nvPr/>
        </p:nvSpPr>
        <p:spPr>
          <a:xfrm>
            <a:off x="6071616" y="1234440"/>
            <a:ext cx="2788920" cy="1051560"/>
          </a:xfrm>
          <a:prstGeom prst="roundRect">
            <a:avLst>
              <a:gd fmla="val 15652" name="adj"/>
            </a:avLst>
          </a:prstGeom>
          <a:solidFill>
            <a:srgbClr val="06B6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4"/>
          <p:cNvSpPr/>
          <p:nvPr/>
        </p:nvSpPr>
        <p:spPr>
          <a:xfrm>
            <a:off x="6071616" y="1920240"/>
            <a:ext cx="2788920" cy="365760"/>
          </a:xfrm>
          <a:prstGeom prst="rect">
            <a:avLst/>
          </a:prstGeom>
          <a:solidFill>
            <a:srgbClr val="06B6D4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6" name="Google Shape;66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87184" y="137160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4"/>
          <p:cNvSpPr/>
          <p:nvPr/>
        </p:nvSpPr>
        <p:spPr>
          <a:xfrm>
            <a:off x="6181344" y="2377440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💻 </a:t>
            </a:r>
            <a:r>
              <a:rPr b="1" i="0" lang="en-US" sz="1550" u="none" cap="none" strike="noStrik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Fossé Théorie/Pratique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6199632" y="2907792"/>
            <a:ext cx="2523744" cy="1691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44466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444466"/>
                </a:solidFill>
                <a:latin typeface="Calibri"/>
                <a:ea typeface="Calibri"/>
                <a:cs typeface="Calibri"/>
                <a:sym typeface="Calibri"/>
              </a:rPr>
              <a:t>Les cours de POO Java restent abstraits sans projet concret démontrant leur puissance réelle.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1371600" y="4709160"/>
            <a:ext cx="6400800" cy="338328"/>
          </a:xfrm>
          <a:prstGeom prst="roundRect">
            <a:avLst>
              <a:gd fmla="val 48649" name="adj"/>
            </a:avLst>
          </a:prstGeom>
          <a:solidFill>
            <a:srgbClr val="FBBF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4"/>
          <p:cNvSpPr/>
          <p:nvPr/>
        </p:nvSpPr>
        <p:spPr>
          <a:xfrm>
            <a:off x="1371600" y="4709160"/>
            <a:ext cx="640080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💡  Notre réponse : une application Java complète, sécurisée et pédagogique !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3FF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5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1B4B"/>
          </a:solidFill>
          <a:ln cap="flat" cmpd="sng" w="12700">
            <a:solidFill>
              <a:srgbClr val="1E1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5"/>
          <p:cNvSpPr/>
          <p:nvPr/>
        </p:nvSpPr>
        <p:spPr>
          <a:xfrm>
            <a:off x="7772400" y="-457200"/>
            <a:ext cx="1828800" cy="1828800"/>
          </a:xfrm>
          <a:prstGeom prst="ellipse">
            <a:avLst/>
          </a:prstGeom>
          <a:solidFill>
            <a:srgbClr val="06B6D4">
              <a:alpha val="50196"/>
            </a:srgbClr>
          </a:solidFill>
          <a:ln cap="flat" cmpd="sng" w="12700">
            <a:solidFill>
              <a:srgbClr val="06B6D4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5"/>
          <p:cNvSpPr/>
          <p:nvPr/>
        </p:nvSpPr>
        <p:spPr>
          <a:xfrm>
            <a:off x="457200" y="4572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🏗️  ARCHITECTURE DU CODE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457200" y="612648"/>
            <a:ext cx="6400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5F7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A855F7"/>
                </a:solidFill>
                <a:latin typeface="Calibri"/>
                <a:ea typeface="Calibri"/>
                <a:cs typeface="Calibri"/>
                <a:sym typeface="Calibri"/>
              </a:rPr>
              <a:t>POO — 2 Classes — Collections Java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228600" y="1097280"/>
            <a:ext cx="4023360" cy="3749040"/>
          </a:xfrm>
          <a:prstGeom prst="roundRect">
            <a:avLst>
              <a:gd fmla="val 4878" name="adj"/>
            </a:avLst>
          </a:prstGeom>
          <a:solidFill>
            <a:srgbClr val="FFFFFF"/>
          </a:solidFill>
          <a:ln>
            <a:noFill/>
          </a:ln>
          <a:effectLst>
            <a:outerShdw blurRad="152400" rotWithShape="0" algn="bl" dir="8100000" dist="50800">
              <a:srgbClr val="7C3AED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5"/>
          <p:cNvSpPr/>
          <p:nvPr/>
        </p:nvSpPr>
        <p:spPr>
          <a:xfrm>
            <a:off x="228600" y="1097280"/>
            <a:ext cx="4023360" cy="566928"/>
          </a:xfrm>
          <a:prstGeom prst="roundRect">
            <a:avLst>
              <a:gd fmla="val 32258" name="adj"/>
            </a:avLst>
          </a:prstGeom>
          <a:solidFill>
            <a:srgbClr val="7C3A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5"/>
          <p:cNvSpPr/>
          <p:nvPr/>
        </p:nvSpPr>
        <p:spPr>
          <a:xfrm>
            <a:off x="228600" y="1463040"/>
            <a:ext cx="4023360" cy="201168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5"/>
          <p:cNvSpPr/>
          <p:nvPr/>
        </p:nvSpPr>
        <p:spPr>
          <a:xfrm>
            <a:off x="320040" y="1115568"/>
            <a:ext cx="38404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⚙️  BankingSystem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365760" y="1828800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7C3AED"/>
                </a:solidFill>
                <a:latin typeface="Consolas"/>
                <a:ea typeface="Consolas"/>
                <a:cs typeface="Consolas"/>
                <a:sym typeface="Consolas"/>
              </a:rPr>
              <a:t>scanner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2103120" y="1828800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88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666688"/>
                </a:solidFill>
                <a:latin typeface="Consolas"/>
                <a:ea typeface="Consolas"/>
                <a:cs typeface="Consolas"/>
                <a:sym typeface="Consolas"/>
              </a:rPr>
              <a:t>Scanner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5"/>
          <p:cNvSpPr/>
          <p:nvPr/>
        </p:nvSpPr>
        <p:spPr>
          <a:xfrm>
            <a:off x="365760" y="2093976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7C3AED"/>
                </a:solidFill>
                <a:latin typeface="Consolas"/>
                <a:ea typeface="Consolas"/>
                <a:cs typeface="Consolas"/>
                <a:sym typeface="Consolas"/>
              </a:rPr>
              <a:t>database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2103120" y="2093976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88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666688"/>
                </a:solidFill>
                <a:latin typeface="Consolas"/>
                <a:ea typeface="Consolas"/>
                <a:cs typeface="Consolas"/>
                <a:sym typeface="Consolas"/>
              </a:rPr>
              <a:t>HashMap&lt;String, User&gt;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365760" y="2359152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7C3AED"/>
                </a:solidFill>
                <a:latin typeface="Consolas"/>
                <a:ea typeface="Consolas"/>
                <a:cs typeface="Consolas"/>
                <a:sym typeface="Consolas"/>
              </a:rPr>
              <a:t>currentUser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2103120" y="2359152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88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666688"/>
                </a:solidFill>
                <a:latin typeface="Consolas"/>
                <a:ea typeface="Consolas"/>
                <a:cs typeface="Consolas"/>
                <a:sym typeface="Consolas"/>
              </a:rPr>
              <a:t>User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365760" y="2670048"/>
            <a:ext cx="3657600" cy="18288"/>
          </a:xfrm>
          <a:prstGeom prst="rect">
            <a:avLst/>
          </a:prstGeom>
          <a:solidFill>
            <a:srgbClr val="DDCCFF"/>
          </a:solidFill>
          <a:ln cap="flat" cmpd="sng" w="12700">
            <a:solidFill>
              <a:srgbClr val="DDC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5"/>
          <p:cNvSpPr/>
          <p:nvPr/>
        </p:nvSpPr>
        <p:spPr>
          <a:xfrm>
            <a:off x="365760" y="2889504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7C3AED"/>
                </a:solidFill>
                <a:latin typeface="Consolas"/>
                <a:ea typeface="Consolas"/>
                <a:cs typeface="Consolas"/>
                <a:sym typeface="Consolas"/>
              </a:rPr>
              <a:t>main()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2103120" y="2889504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88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666688"/>
                </a:solidFill>
                <a:latin typeface="Consolas"/>
                <a:ea typeface="Consolas"/>
                <a:cs typeface="Consolas"/>
                <a:sym typeface="Consolas"/>
              </a:rPr>
              <a:t>Point d'entrée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365760" y="3154680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7C3AED"/>
                </a:solidFill>
                <a:latin typeface="Consolas"/>
                <a:ea typeface="Consolas"/>
                <a:cs typeface="Consolas"/>
                <a:sym typeface="Consolas"/>
              </a:rPr>
              <a:t>login()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2103120" y="3154680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88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666688"/>
                </a:solidFill>
                <a:latin typeface="Consolas"/>
                <a:ea typeface="Consolas"/>
                <a:cs typeface="Consolas"/>
                <a:sym typeface="Consolas"/>
              </a:rPr>
              <a:t>Auth sécurisée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365760" y="3419856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7C3AED"/>
                </a:solidFill>
                <a:latin typeface="Consolas"/>
                <a:ea typeface="Consolas"/>
                <a:cs typeface="Consolas"/>
                <a:sym typeface="Consolas"/>
              </a:rPr>
              <a:t>signUp()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2103120" y="3419856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88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666688"/>
                </a:solidFill>
                <a:latin typeface="Consolas"/>
                <a:ea typeface="Consolas"/>
                <a:cs typeface="Consolas"/>
                <a:sym typeface="Consolas"/>
              </a:rPr>
              <a:t>Inscription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365760" y="3685032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7C3AED"/>
                </a:solidFill>
                <a:latin typeface="Consolas"/>
                <a:ea typeface="Consolas"/>
                <a:cs typeface="Consolas"/>
                <a:sym typeface="Consolas"/>
              </a:rPr>
              <a:t>showMainMenu()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2103120" y="3685032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88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666688"/>
                </a:solidFill>
                <a:latin typeface="Consolas"/>
                <a:ea typeface="Consolas"/>
                <a:cs typeface="Consolas"/>
                <a:sym typeface="Consolas"/>
              </a:rPr>
              <a:t>Navigation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365760" y="3950208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7C3AED"/>
                </a:solidFill>
                <a:latin typeface="Consolas"/>
                <a:ea typeface="Consolas"/>
                <a:cs typeface="Consolas"/>
                <a:sym typeface="Consolas"/>
              </a:rPr>
              <a:t>handleTransfer()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5"/>
          <p:cNvSpPr/>
          <p:nvPr/>
        </p:nvSpPr>
        <p:spPr>
          <a:xfrm>
            <a:off x="2103120" y="3950208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88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666688"/>
                </a:solidFill>
                <a:latin typeface="Consolas"/>
                <a:ea typeface="Consolas"/>
                <a:cs typeface="Consolas"/>
                <a:sym typeface="Consolas"/>
              </a:rPr>
              <a:t>Virements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365760" y="4215384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7C3AED"/>
                </a:solidFill>
                <a:latin typeface="Consolas"/>
                <a:ea typeface="Consolas"/>
                <a:cs typeface="Consolas"/>
                <a:sym typeface="Consolas"/>
              </a:rPr>
              <a:t>applyForLoan()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2103120" y="4215384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88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666688"/>
                </a:solidFill>
                <a:latin typeface="Consolas"/>
                <a:ea typeface="Consolas"/>
                <a:cs typeface="Consolas"/>
                <a:sym typeface="Consolas"/>
              </a:rPr>
              <a:t>Calculatrice prêt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4343400" y="2697480"/>
            <a:ext cx="457200" cy="457200"/>
          </a:xfrm>
          <a:prstGeom prst="ellipse">
            <a:avLst/>
          </a:prstGeom>
          <a:solidFill>
            <a:srgbClr val="F97316"/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5"/>
          <p:cNvSpPr/>
          <p:nvPr/>
        </p:nvSpPr>
        <p:spPr>
          <a:xfrm>
            <a:off x="4343400" y="26974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4892040" y="1097280"/>
            <a:ext cx="4023360" cy="3749040"/>
          </a:xfrm>
          <a:prstGeom prst="roundRect">
            <a:avLst>
              <a:gd fmla="val 4878" name="adj"/>
            </a:avLst>
          </a:prstGeom>
          <a:solidFill>
            <a:srgbClr val="FFFFFF"/>
          </a:solidFill>
          <a:ln>
            <a:noFill/>
          </a:ln>
          <a:effectLst>
            <a:outerShdw blurRad="152400" rotWithShape="0" algn="bl" dir="8100000" dist="50800">
              <a:srgbClr val="EC4899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"/>
          <p:cNvSpPr/>
          <p:nvPr/>
        </p:nvSpPr>
        <p:spPr>
          <a:xfrm>
            <a:off x="4892040" y="1097280"/>
            <a:ext cx="4023360" cy="566928"/>
          </a:xfrm>
          <a:prstGeom prst="roundRect">
            <a:avLst>
              <a:gd fmla="val 32258" name="adj"/>
            </a:avLst>
          </a:prstGeom>
          <a:solidFill>
            <a:srgbClr val="EC48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5"/>
          <p:cNvSpPr/>
          <p:nvPr/>
        </p:nvSpPr>
        <p:spPr>
          <a:xfrm>
            <a:off x="4892040" y="1463040"/>
            <a:ext cx="4023360" cy="201168"/>
          </a:xfrm>
          <a:prstGeom prst="rect">
            <a:avLst/>
          </a:prstGeom>
          <a:solidFill>
            <a:srgbClr val="EC4899"/>
          </a:solidFill>
          <a:ln cap="flat" cmpd="sng" w="12700">
            <a:solidFill>
              <a:srgbClr val="EC48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5"/>
          <p:cNvSpPr/>
          <p:nvPr/>
        </p:nvSpPr>
        <p:spPr>
          <a:xfrm>
            <a:off x="4983480" y="1115568"/>
            <a:ext cx="38404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👤  User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5029200" y="1828800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4899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EC4899"/>
                </a:solidFill>
                <a:latin typeface="Consolas"/>
                <a:ea typeface="Consolas"/>
                <a:cs typeface="Consolas"/>
                <a:sym typeface="Consolas"/>
              </a:rPr>
              <a:t>name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5"/>
          <p:cNvSpPr/>
          <p:nvPr/>
        </p:nvSpPr>
        <p:spPr>
          <a:xfrm>
            <a:off x="6766560" y="1828800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88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666688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5029200" y="2093976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4899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EC4899"/>
                </a:solidFill>
                <a:latin typeface="Consolas"/>
                <a:ea typeface="Consolas"/>
                <a:cs typeface="Consolas"/>
                <a:sym typeface="Consolas"/>
              </a:rPr>
              <a:t>accNum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5"/>
          <p:cNvSpPr/>
          <p:nvPr/>
        </p:nvSpPr>
        <p:spPr>
          <a:xfrm>
            <a:off x="6766560" y="2093976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88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666688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5"/>
          <p:cNvSpPr/>
          <p:nvPr/>
        </p:nvSpPr>
        <p:spPr>
          <a:xfrm>
            <a:off x="5029200" y="2359152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4899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EC4899"/>
                </a:solidFill>
                <a:latin typeface="Consolas"/>
                <a:ea typeface="Consolas"/>
                <a:cs typeface="Consolas"/>
                <a:sym typeface="Consolas"/>
              </a:rPr>
              <a:t>balance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5"/>
          <p:cNvSpPr/>
          <p:nvPr/>
        </p:nvSpPr>
        <p:spPr>
          <a:xfrm>
            <a:off x="6766560" y="2359152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88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666688"/>
                </a:solidFill>
                <a:latin typeface="Consolas"/>
                <a:ea typeface="Consolas"/>
                <a:cs typeface="Consolas"/>
                <a:sym typeface="Consolas"/>
              </a:rPr>
              <a:t>double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5029200" y="2624328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4899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EC4899"/>
                </a:solidFill>
                <a:latin typeface="Consolas"/>
                <a:ea typeface="Consolas"/>
                <a:cs typeface="Consolas"/>
                <a:sym typeface="Consolas"/>
              </a:rPr>
              <a:t>secondaryAccs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6766560" y="2624328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88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666688"/>
                </a:solidFill>
                <a:latin typeface="Consolas"/>
                <a:ea typeface="Consolas"/>
                <a:cs typeface="Consolas"/>
                <a:sym typeface="Consolas"/>
              </a:rPr>
              <a:t>ArrayList&lt;String&gt;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5029200" y="2889504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4899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EC4899"/>
                </a:solidFill>
                <a:latin typeface="Consolas"/>
                <a:ea typeface="Consolas"/>
                <a:cs typeface="Consolas"/>
                <a:sym typeface="Consolas"/>
              </a:rPr>
              <a:t>loans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"/>
          <p:cNvSpPr/>
          <p:nvPr/>
        </p:nvSpPr>
        <p:spPr>
          <a:xfrm>
            <a:off x="6766560" y="2889504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88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666688"/>
                </a:solidFill>
                <a:latin typeface="Consolas"/>
                <a:ea typeface="Consolas"/>
                <a:cs typeface="Consolas"/>
                <a:sym typeface="Consolas"/>
              </a:rPr>
              <a:t>ArrayList&lt;String&gt;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5029200" y="3218688"/>
            <a:ext cx="3657600" cy="18288"/>
          </a:xfrm>
          <a:prstGeom prst="rect">
            <a:avLst/>
          </a:prstGeom>
          <a:solidFill>
            <a:srgbClr val="FFCCDD"/>
          </a:solidFill>
          <a:ln cap="flat" cmpd="sng" w="12700">
            <a:solidFill>
              <a:srgbClr val="FFCC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5"/>
          <p:cNvSpPr/>
          <p:nvPr/>
        </p:nvSpPr>
        <p:spPr>
          <a:xfrm>
            <a:off x="5029200" y="3419856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4899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EC4899"/>
                </a:solidFill>
                <a:latin typeface="Consolas"/>
                <a:ea typeface="Consolas"/>
                <a:cs typeface="Consolas"/>
                <a:sym typeface="Consolas"/>
              </a:rPr>
              <a:t>getName()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6766560" y="3419856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88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666688"/>
                </a:solidFill>
                <a:latin typeface="Consolas"/>
                <a:ea typeface="Consolas"/>
                <a:cs typeface="Consolas"/>
                <a:sym typeface="Consolas"/>
              </a:rPr>
              <a:t>/ setName()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5029200" y="3685032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4899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EC4899"/>
                </a:solidFill>
                <a:latin typeface="Consolas"/>
                <a:ea typeface="Consolas"/>
                <a:cs typeface="Consolas"/>
                <a:sym typeface="Consolas"/>
              </a:rPr>
              <a:t>getBalance()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6766560" y="3685032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88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666688"/>
                </a:solidFill>
                <a:latin typeface="Consolas"/>
                <a:ea typeface="Consolas"/>
                <a:cs typeface="Consolas"/>
                <a:sym typeface="Consolas"/>
              </a:rPr>
              <a:t>/ setBalance()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5029200" y="3950208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4899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EC4899"/>
                </a:solidFill>
                <a:latin typeface="Consolas"/>
                <a:ea typeface="Consolas"/>
                <a:cs typeface="Consolas"/>
                <a:sym typeface="Consolas"/>
              </a:rPr>
              <a:t>addSecondary()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6766560" y="3950208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88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666688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5029200" y="4215384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4899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EC4899"/>
                </a:solidFill>
                <a:latin typeface="Consolas"/>
                <a:ea typeface="Consolas"/>
                <a:cs typeface="Consolas"/>
                <a:sym typeface="Consolas"/>
              </a:rPr>
              <a:t>displayInfo()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6766560" y="4215384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88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666688"/>
                </a:solidFill>
                <a:latin typeface="Consolas"/>
                <a:ea typeface="Consolas"/>
                <a:cs typeface="Consolas"/>
                <a:sym typeface="Consolas"/>
              </a:rPr>
              <a:t>Affichage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274320" y="4754880"/>
            <a:ext cx="1572768" cy="310896"/>
          </a:xfrm>
          <a:prstGeom prst="roundRect">
            <a:avLst>
              <a:gd fmla="val 47059" name="adj"/>
            </a:avLst>
          </a:prstGeom>
          <a:solidFill>
            <a:srgbClr val="7C3A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5"/>
          <p:cNvSpPr/>
          <p:nvPr/>
        </p:nvSpPr>
        <p:spPr>
          <a:xfrm>
            <a:off x="274320" y="4754880"/>
            <a:ext cx="157276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HashMap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1993392" y="4754880"/>
            <a:ext cx="1572768" cy="310896"/>
          </a:xfrm>
          <a:prstGeom prst="roundRect">
            <a:avLst>
              <a:gd fmla="val 47059" name="adj"/>
            </a:avLst>
          </a:prstGeom>
          <a:solidFill>
            <a:srgbClr val="EC48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5"/>
          <p:cNvSpPr/>
          <p:nvPr/>
        </p:nvSpPr>
        <p:spPr>
          <a:xfrm>
            <a:off x="1993392" y="4754880"/>
            <a:ext cx="157276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ArrayList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3712464" y="4754880"/>
            <a:ext cx="1572768" cy="310896"/>
          </a:xfrm>
          <a:prstGeom prst="roundRect">
            <a:avLst>
              <a:gd fmla="val 47059" name="adj"/>
            </a:avLst>
          </a:prstGeom>
          <a:solidFill>
            <a:srgbClr val="06B6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5"/>
          <p:cNvSpPr/>
          <p:nvPr/>
        </p:nvSpPr>
        <p:spPr>
          <a:xfrm>
            <a:off x="3712464" y="4754880"/>
            <a:ext cx="157276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Scanner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5431536" y="4754880"/>
            <a:ext cx="1572768" cy="310896"/>
          </a:xfrm>
          <a:prstGeom prst="roundRect">
            <a:avLst>
              <a:gd fmla="val 47059" name="adj"/>
            </a:avLst>
          </a:prstGeom>
          <a:solidFill>
            <a:srgbClr val="F973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5"/>
          <p:cNvSpPr/>
          <p:nvPr/>
        </p:nvSpPr>
        <p:spPr>
          <a:xfrm>
            <a:off x="5431536" y="4754880"/>
            <a:ext cx="157276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7150608" y="4754880"/>
            <a:ext cx="1572768" cy="310896"/>
          </a:xfrm>
          <a:prstGeom prst="roundRect">
            <a:avLst>
              <a:gd fmla="val 47059" name="adj"/>
            </a:avLst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5"/>
          <p:cNvSpPr/>
          <p:nvPr/>
        </p:nvSpPr>
        <p:spPr>
          <a:xfrm>
            <a:off x="7150608" y="4754880"/>
            <a:ext cx="157276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Java SE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4FF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1B4B"/>
          </a:solidFill>
          <a:ln cap="flat" cmpd="sng" w="12700">
            <a:solidFill>
              <a:srgbClr val="1E1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6"/>
          <p:cNvSpPr/>
          <p:nvPr/>
        </p:nvSpPr>
        <p:spPr>
          <a:xfrm>
            <a:off x="-365760" y="-365760"/>
            <a:ext cx="1828800" cy="1828800"/>
          </a:xfrm>
          <a:prstGeom prst="ellipse">
            <a:avLst/>
          </a:prstGeom>
          <a:solidFill>
            <a:srgbClr val="F97316">
              <a:alpha val="50196"/>
            </a:srgbClr>
          </a:solidFill>
          <a:ln cap="flat" cmpd="sng" w="12700">
            <a:solidFill>
              <a:srgbClr val="F97316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6"/>
          <p:cNvSpPr/>
          <p:nvPr/>
        </p:nvSpPr>
        <p:spPr>
          <a:xfrm>
            <a:off x="457200" y="457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🚀  FONCTIONNALITÉS MAJEURES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457200" y="612648"/>
            <a:ext cx="6400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580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FFD580"/>
                </a:solidFill>
                <a:latin typeface="Calibri"/>
                <a:ea typeface="Calibri"/>
                <a:cs typeface="Calibri"/>
                <a:sym typeface="Calibri"/>
              </a:rPr>
              <a:t>Démonstration des capacités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6"/>
          <p:cNvSpPr/>
          <p:nvPr/>
        </p:nvSpPr>
        <p:spPr>
          <a:xfrm>
            <a:off x="256032" y="1170432"/>
            <a:ext cx="4206240" cy="1133856"/>
          </a:xfrm>
          <a:prstGeom prst="roundRect">
            <a:avLst>
              <a:gd fmla="val 12097" name="adj"/>
            </a:avLst>
          </a:prstGeom>
          <a:solidFill>
            <a:srgbClr val="EDE9FE"/>
          </a:solidFill>
          <a:ln>
            <a:noFill/>
          </a:ln>
          <a:effectLst>
            <a:outerShdw blurRad="152400" rotWithShape="0" algn="bl" dir="8100000" dist="50800">
              <a:srgbClr val="7C3AED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6"/>
          <p:cNvSpPr/>
          <p:nvPr/>
        </p:nvSpPr>
        <p:spPr>
          <a:xfrm>
            <a:off x="256032" y="1170432"/>
            <a:ext cx="777240" cy="1133856"/>
          </a:xfrm>
          <a:prstGeom prst="roundRect">
            <a:avLst>
              <a:gd fmla="val 17647" name="adj"/>
            </a:avLst>
          </a:prstGeom>
          <a:solidFill>
            <a:srgbClr val="7C3A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6"/>
          <p:cNvSpPr/>
          <p:nvPr/>
        </p:nvSpPr>
        <p:spPr>
          <a:xfrm>
            <a:off x="758952" y="1170432"/>
            <a:ext cx="274320" cy="1133856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0" name="Google Shape;15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1490472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6"/>
          <p:cNvSpPr/>
          <p:nvPr/>
        </p:nvSpPr>
        <p:spPr>
          <a:xfrm>
            <a:off x="1133856" y="1261872"/>
            <a:ext cx="3200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🔐 Authentification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6"/>
          <p:cNvSpPr/>
          <p:nvPr/>
        </p:nvSpPr>
        <p:spPr>
          <a:xfrm>
            <a:off x="1133856" y="1645920"/>
            <a:ext cx="32004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3355"/>
                </a:solidFill>
                <a:latin typeface="Calibri"/>
                <a:ea typeface="Calibri"/>
                <a:cs typeface="Calibri"/>
                <a:sym typeface="Calibri"/>
              </a:rPr>
              <a:t>Connexion par numéro de compte + nom. Accès refusé si identifiants invalides.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6"/>
          <p:cNvSpPr/>
          <p:nvPr/>
        </p:nvSpPr>
        <p:spPr>
          <a:xfrm>
            <a:off x="4700016" y="1170432"/>
            <a:ext cx="4206240" cy="1133856"/>
          </a:xfrm>
          <a:prstGeom prst="roundRect">
            <a:avLst>
              <a:gd fmla="val 12097" name="adj"/>
            </a:avLst>
          </a:prstGeom>
          <a:solidFill>
            <a:srgbClr val="FDF2F8"/>
          </a:solidFill>
          <a:ln>
            <a:noFill/>
          </a:ln>
          <a:effectLst>
            <a:outerShdw blurRad="152400" rotWithShape="0" algn="bl" dir="8100000" dist="50800">
              <a:srgbClr val="EC4899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6"/>
          <p:cNvSpPr/>
          <p:nvPr/>
        </p:nvSpPr>
        <p:spPr>
          <a:xfrm>
            <a:off x="4700016" y="1170432"/>
            <a:ext cx="777240" cy="1133856"/>
          </a:xfrm>
          <a:prstGeom prst="roundRect">
            <a:avLst>
              <a:gd fmla="val 17647" name="adj"/>
            </a:avLst>
          </a:prstGeom>
          <a:solidFill>
            <a:srgbClr val="EC48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6"/>
          <p:cNvSpPr/>
          <p:nvPr/>
        </p:nvSpPr>
        <p:spPr>
          <a:xfrm>
            <a:off x="5202936" y="1170432"/>
            <a:ext cx="274320" cy="1133856"/>
          </a:xfrm>
          <a:prstGeom prst="rect">
            <a:avLst/>
          </a:prstGeom>
          <a:solidFill>
            <a:srgbClr val="EC4899"/>
          </a:solidFill>
          <a:ln cap="flat" cmpd="sng" w="12700">
            <a:solidFill>
              <a:srgbClr val="EC48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6" name="Google Shape;156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55464" y="1490472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6"/>
          <p:cNvSpPr/>
          <p:nvPr/>
        </p:nvSpPr>
        <p:spPr>
          <a:xfrm>
            <a:off x="5577840" y="1261872"/>
            <a:ext cx="3200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4899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C4899"/>
                </a:solidFill>
                <a:latin typeface="Calibri"/>
                <a:ea typeface="Calibri"/>
                <a:cs typeface="Calibri"/>
                <a:sym typeface="Calibri"/>
              </a:rPr>
              <a:t>👤 Gestion de Profil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6"/>
          <p:cNvSpPr/>
          <p:nvPr/>
        </p:nvSpPr>
        <p:spPr>
          <a:xfrm>
            <a:off x="5577840" y="1645920"/>
            <a:ext cx="32004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3355"/>
                </a:solidFill>
                <a:latin typeface="Calibri"/>
                <a:ea typeface="Calibri"/>
                <a:cs typeface="Calibri"/>
                <a:sym typeface="Calibri"/>
              </a:rPr>
              <a:t>Création de compte, modification du nom, affichage complet des données.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256032" y="2432304"/>
            <a:ext cx="4206240" cy="1133856"/>
          </a:xfrm>
          <a:prstGeom prst="roundRect">
            <a:avLst>
              <a:gd fmla="val 12097" name="adj"/>
            </a:avLst>
          </a:prstGeom>
          <a:solidFill>
            <a:srgbClr val="FFF7ED"/>
          </a:solidFill>
          <a:ln>
            <a:noFill/>
          </a:ln>
          <a:effectLst>
            <a:outerShdw blurRad="152400" rotWithShape="0" algn="bl" dir="8100000" dist="50800">
              <a:srgbClr val="F97316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6"/>
          <p:cNvSpPr/>
          <p:nvPr/>
        </p:nvSpPr>
        <p:spPr>
          <a:xfrm>
            <a:off x="256032" y="2432304"/>
            <a:ext cx="777240" cy="1133856"/>
          </a:xfrm>
          <a:prstGeom prst="roundRect">
            <a:avLst>
              <a:gd fmla="val 17647" name="adj"/>
            </a:avLst>
          </a:prstGeom>
          <a:solidFill>
            <a:srgbClr val="F973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6"/>
          <p:cNvSpPr/>
          <p:nvPr/>
        </p:nvSpPr>
        <p:spPr>
          <a:xfrm>
            <a:off x="758952" y="2432304"/>
            <a:ext cx="274320" cy="1133856"/>
          </a:xfrm>
          <a:prstGeom prst="rect">
            <a:avLst/>
          </a:prstGeom>
          <a:solidFill>
            <a:srgbClr val="F97316"/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2" name="Google Shape;162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11480" y="2752344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6"/>
          <p:cNvSpPr/>
          <p:nvPr/>
        </p:nvSpPr>
        <p:spPr>
          <a:xfrm>
            <a:off x="1133856" y="2523744"/>
            <a:ext cx="3200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💰 Dépôt &amp; Retrait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1133856" y="2907792"/>
            <a:ext cx="32004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3355"/>
                </a:solidFill>
                <a:latin typeface="Calibri"/>
                <a:ea typeface="Calibri"/>
                <a:cs typeface="Calibri"/>
                <a:sym typeface="Calibri"/>
              </a:rPr>
              <a:t>Opérations instantanées avec vérification du solde avant tout débit.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4700016" y="2432304"/>
            <a:ext cx="4206240" cy="1133856"/>
          </a:xfrm>
          <a:prstGeom prst="roundRect">
            <a:avLst>
              <a:gd fmla="val 12097" name="adj"/>
            </a:avLst>
          </a:prstGeom>
          <a:solidFill>
            <a:srgbClr val="FFFBEB"/>
          </a:solidFill>
          <a:ln>
            <a:noFill/>
          </a:ln>
          <a:effectLst>
            <a:outerShdw blurRad="152400" rotWithShape="0" algn="bl" dir="8100000" dist="50800">
              <a:srgbClr val="D97706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6"/>
          <p:cNvSpPr/>
          <p:nvPr/>
        </p:nvSpPr>
        <p:spPr>
          <a:xfrm>
            <a:off x="4700016" y="2432304"/>
            <a:ext cx="777240" cy="1133856"/>
          </a:xfrm>
          <a:prstGeom prst="roundRect">
            <a:avLst>
              <a:gd fmla="val 17647" name="adj"/>
            </a:avLst>
          </a:prstGeom>
          <a:solidFill>
            <a:srgbClr val="D9770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6"/>
          <p:cNvSpPr/>
          <p:nvPr/>
        </p:nvSpPr>
        <p:spPr>
          <a:xfrm>
            <a:off x="5202936" y="2432304"/>
            <a:ext cx="274320" cy="1133856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6"/>
          <p:cNvSpPr/>
          <p:nvPr/>
        </p:nvSpPr>
        <p:spPr>
          <a:xfrm>
            <a:off x="5577840" y="2523744"/>
            <a:ext cx="3200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🏦 Calculatrice Prêt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5577840" y="2907792"/>
            <a:ext cx="32004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3355"/>
                </a:solidFill>
                <a:latin typeface="Calibri"/>
                <a:ea typeface="Calibri"/>
                <a:cs typeface="Calibri"/>
                <a:sym typeface="Calibri"/>
              </a:rPr>
              <a:t>Éligibilité : 40% du salaire. Mensualité calculée automatiquement.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256032" y="3694176"/>
            <a:ext cx="4206240" cy="1133856"/>
          </a:xfrm>
          <a:prstGeom prst="roundRect">
            <a:avLst>
              <a:gd fmla="val 12097" name="adj"/>
            </a:avLst>
          </a:prstGeom>
          <a:solidFill>
            <a:srgbClr val="ECFEFF"/>
          </a:solidFill>
          <a:ln>
            <a:noFill/>
          </a:ln>
          <a:effectLst>
            <a:outerShdw blurRad="152400" rotWithShape="0" algn="bl" dir="8100000" dist="50800">
              <a:srgbClr val="06B6D4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6"/>
          <p:cNvSpPr/>
          <p:nvPr/>
        </p:nvSpPr>
        <p:spPr>
          <a:xfrm>
            <a:off x="256032" y="3694176"/>
            <a:ext cx="777240" cy="1133856"/>
          </a:xfrm>
          <a:prstGeom prst="roundRect">
            <a:avLst>
              <a:gd fmla="val 17647" name="adj"/>
            </a:avLst>
          </a:prstGeom>
          <a:solidFill>
            <a:srgbClr val="06B6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6"/>
          <p:cNvSpPr/>
          <p:nvPr/>
        </p:nvSpPr>
        <p:spPr>
          <a:xfrm>
            <a:off x="758952" y="3694176"/>
            <a:ext cx="274320" cy="1133856"/>
          </a:xfrm>
          <a:prstGeom prst="rect">
            <a:avLst/>
          </a:prstGeom>
          <a:solidFill>
            <a:srgbClr val="06B6D4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3" name="Google Shape;173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11480" y="4014216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6"/>
          <p:cNvSpPr/>
          <p:nvPr/>
        </p:nvSpPr>
        <p:spPr>
          <a:xfrm>
            <a:off x="1133856" y="3785616"/>
            <a:ext cx="3200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↔️ Virement Externe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6"/>
          <p:cNvSpPr/>
          <p:nvPr/>
        </p:nvSpPr>
        <p:spPr>
          <a:xfrm>
            <a:off x="1133856" y="4169664"/>
            <a:ext cx="32004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3355"/>
                </a:solidFill>
                <a:latin typeface="Calibri"/>
                <a:ea typeface="Calibri"/>
                <a:cs typeface="Calibri"/>
                <a:sym typeface="Calibri"/>
              </a:rPr>
              <a:t>Transfert vers bénéficiaire tiers avec confirmation et résumé détaillé.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6"/>
          <p:cNvSpPr/>
          <p:nvPr/>
        </p:nvSpPr>
        <p:spPr>
          <a:xfrm>
            <a:off x="4700016" y="3694176"/>
            <a:ext cx="4206240" cy="1133856"/>
          </a:xfrm>
          <a:prstGeom prst="roundRect">
            <a:avLst>
              <a:gd fmla="val 12097" name="adj"/>
            </a:avLst>
          </a:prstGeom>
          <a:solidFill>
            <a:srgbClr val="F0FDF4"/>
          </a:solidFill>
          <a:ln>
            <a:noFill/>
          </a:ln>
          <a:effectLst>
            <a:outerShdw blurRad="152400" rotWithShape="0" algn="bl" dir="8100000" dist="50800">
              <a:srgbClr val="10B981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6"/>
          <p:cNvSpPr/>
          <p:nvPr/>
        </p:nvSpPr>
        <p:spPr>
          <a:xfrm>
            <a:off x="4700016" y="3694176"/>
            <a:ext cx="777240" cy="1133856"/>
          </a:xfrm>
          <a:prstGeom prst="roundRect">
            <a:avLst>
              <a:gd fmla="val 17647" name="adj"/>
            </a:avLst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6"/>
          <p:cNvSpPr/>
          <p:nvPr/>
        </p:nvSpPr>
        <p:spPr>
          <a:xfrm>
            <a:off x="5202936" y="3694176"/>
            <a:ext cx="274320" cy="1133856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9" name="Google Shape;179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855464" y="4014216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6"/>
          <p:cNvSpPr/>
          <p:nvPr/>
        </p:nvSpPr>
        <p:spPr>
          <a:xfrm>
            <a:off x="5577840" y="3785616"/>
            <a:ext cx="3200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🐷 Comptes Secondaires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6"/>
          <p:cNvSpPr/>
          <p:nvPr/>
        </p:nvSpPr>
        <p:spPr>
          <a:xfrm>
            <a:off x="5577840" y="4169664"/>
            <a:ext cx="32004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33355"/>
                </a:solidFill>
                <a:latin typeface="Calibri"/>
                <a:ea typeface="Calibri"/>
                <a:cs typeface="Calibri"/>
                <a:sym typeface="Calibri"/>
              </a:rPr>
              <a:t>Créez des comptes Épargne, Urgence ou Personnel pour mieux gérer vos finances.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B4B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7"/>
          <p:cNvSpPr/>
          <p:nvPr/>
        </p:nvSpPr>
        <p:spPr>
          <a:xfrm>
            <a:off x="-914400" y="2743200"/>
            <a:ext cx="3657600" cy="3657600"/>
          </a:xfrm>
          <a:prstGeom prst="ellipse">
            <a:avLst/>
          </a:prstGeom>
          <a:solidFill>
            <a:srgbClr val="7C3AED">
              <a:alpha val="45098"/>
            </a:srgbClr>
          </a:solidFill>
          <a:ln cap="flat" cmpd="sng" w="12700">
            <a:solidFill>
              <a:srgbClr val="7C3AED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7"/>
          <p:cNvSpPr/>
          <p:nvPr/>
        </p:nvSpPr>
        <p:spPr>
          <a:xfrm>
            <a:off x="6400800" y="-914400"/>
            <a:ext cx="3657600" cy="3657600"/>
          </a:xfrm>
          <a:prstGeom prst="ellipse">
            <a:avLst/>
          </a:prstGeom>
          <a:solidFill>
            <a:srgbClr val="06B6D4">
              <a:alpha val="40000"/>
            </a:srgbClr>
          </a:solidFill>
          <a:ln cap="flat" cmpd="sng" w="12700">
            <a:solidFill>
              <a:srgbClr val="06B6D4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7"/>
          <p:cNvSpPr/>
          <p:nvPr/>
        </p:nvSpPr>
        <p:spPr>
          <a:xfrm>
            <a:off x="137160" y="274320"/>
            <a:ext cx="164592" cy="164592"/>
          </a:xfrm>
          <a:prstGeom prst="ellipse">
            <a:avLst/>
          </a:prstGeom>
          <a:solidFill>
            <a:srgbClr val="FBBF24">
              <a:alpha val="70196"/>
            </a:srgbClr>
          </a:solidFill>
          <a:ln cap="flat" cmpd="sng" w="12700">
            <a:solidFill>
              <a:srgbClr val="FBB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7"/>
          <p:cNvSpPr/>
          <p:nvPr/>
        </p:nvSpPr>
        <p:spPr>
          <a:xfrm>
            <a:off x="8869680" y="457200"/>
            <a:ext cx="118872" cy="118872"/>
          </a:xfrm>
          <a:prstGeom prst="ellipse">
            <a:avLst/>
          </a:prstGeom>
          <a:solidFill>
            <a:srgbClr val="EC4899">
              <a:alpha val="70196"/>
            </a:srgbClr>
          </a:solidFill>
          <a:ln cap="flat" cmpd="sng" w="12700">
            <a:solidFill>
              <a:srgbClr val="EC48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7"/>
          <p:cNvSpPr/>
          <p:nvPr/>
        </p:nvSpPr>
        <p:spPr>
          <a:xfrm>
            <a:off x="365760" y="4480560"/>
            <a:ext cx="137160" cy="137160"/>
          </a:xfrm>
          <a:prstGeom prst="ellipse">
            <a:avLst/>
          </a:prstGeom>
          <a:solidFill>
            <a:srgbClr val="06B6D4">
              <a:alpha val="70196"/>
            </a:srgbClr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7"/>
          <p:cNvSpPr/>
          <p:nvPr/>
        </p:nvSpPr>
        <p:spPr>
          <a:xfrm>
            <a:off x="8686800" y="4206240"/>
            <a:ext cx="182880" cy="182880"/>
          </a:xfrm>
          <a:prstGeom prst="ellipse">
            <a:avLst/>
          </a:prstGeom>
          <a:solidFill>
            <a:srgbClr val="F97316">
              <a:alpha val="70196"/>
            </a:srgbClr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7"/>
          <p:cNvSpPr/>
          <p:nvPr/>
        </p:nvSpPr>
        <p:spPr>
          <a:xfrm>
            <a:off x="4572000" y="4754880"/>
            <a:ext cx="109728" cy="109728"/>
          </a:xfrm>
          <a:prstGeom prst="ellipse">
            <a:avLst/>
          </a:prstGeom>
          <a:solidFill>
            <a:srgbClr val="10B981">
              <a:alpha val="70196"/>
            </a:srgbClr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7"/>
          <p:cNvSpPr/>
          <p:nvPr/>
        </p:nvSpPr>
        <p:spPr>
          <a:xfrm>
            <a:off x="2560320" y="137160"/>
            <a:ext cx="91440" cy="91440"/>
          </a:xfrm>
          <a:prstGeom prst="ellipse">
            <a:avLst/>
          </a:prstGeom>
          <a:solidFill>
            <a:srgbClr val="EC4899">
              <a:alpha val="70196"/>
            </a:srgbClr>
          </a:solidFill>
          <a:ln cap="flat" cmpd="sng" w="12700">
            <a:solidFill>
              <a:srgbClr val="EC48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7"/>
          <p:cNvSpPr/>
          <p:nvPr/>
        </p:nvSpPr>
        <p:spPr>
          <a:xfrm>
            <a:off x="6858000" y="4846320"/>
            <a:ext cx="128016" cy="128016"/>
          </a:xfrm>
          <a:prstGeom prst="ellipse">
            <a:avLst/>
          </a:prstGeom>
          <a:solidFill>
            <a:srgbClr val="FBBF24">
              <a:alpha val="70196"/>
            </a:srgbClr>
          </a:solidFill>
          <a:ln cap="flat" cmpd="sng" w="12700">
            <a:solidFill>
              <a:srgbClr val="FBB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7"/>
          <p:cNvSpPr/>
          <p:nvPr/>
        </p:nvSpPr>
        <p:spPr>
          <a:xfrm>
            <a:off x="8412480" y="2286000"/>
            <a:ext cx="91440" cy="91440"/>
          </a:xfrm>
          <a:prstGeom prst="ellipse">
            <a:avLst/>
          </a:prstGeom>
          <a:solidFill>
            <a:srgbClr val="06B6D4">
              <a:alpha val="70196"/>
            </a:srgbClr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7"/>
          <p:cNvSpPr/>
          <p:nvPr/>
        </p:nvSpPr>
        <p:spPr>
          <a:xfrm>
            <a:off x="182880" y="2560320"/>
            <a:ext cx="109728" cy="109728"/>
          </a:xfrm>
          <a:prstGeom prst="ellipse">
            <a:avLst/>
          </a:prstGeom>
          <a:solidFill>
            <a:srgbClr val="F97316">
              <a:alpha val="70196"/>
            </a:srgbClr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7"/>
          <p:cNvSpPr/>
          <p:nvPr/>
        </p:nvSpPr>
        <p:spPr>
          <a:xfrm>
            <a:off x="365760" y="164592"/>
            <a:ext cx="8412480" cy="658368"/>
          </a:xfrm>
          <a:prstGeom prst="roundRect">
            <a:avLst>
              <a:gd fmla="val 44444" name="adj"/>
            </a:avLst>
          </a:prstGeom>
          <a:solidFill>
            <a:srgbClr val="7C3A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7"/>
          <p:cNvSpPr/>
          <p:nvPr/>
        </p:nvSpPr>
        <p:spPr>
          <a:xfrm>
            <a:off x="365760" y="164592"/>
            <a:ext cx="84124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✨  INNOVATION  —  Ce qui nous distingue  ✨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7"/>
          <p:cNvSpPr/>
          <p:nvPr/>
        </p:nvSpPr>
        <p:spPr>
          <a:xfrm>
            <a:off x="274320" y="1005840"/>
            <a:ext cx="4114800" cy="3858768"/>
          </a:xfrm>
          <a:prstGeom prst="roundRect">
            <a:avLst>
              <a:gd fmla="val 5213" name="adj"/>
            </a:avLst>
          </a:prstGeom>
          <a:solidFill>
            <a:srgbClr val="2D2B5B"/>
          </a:solidFill>
          <a:ln>
            <a:noFill/>
          </a:ln>
          <a:effectLst>
            <a:outerShdw blurRad="152400" rotWithShape="0" algn="bl" dir="8100000" dist="50800">
              <a:srgbClr val="06B6D4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7"/>
          <p:cNvSpPr/>
          <p:nvPr/>
        </p:nvSpPr>
        <p:spPr>
          <a:xfrm>
            <a:off x="274320" y="1005840"/>
            <a:ext cx="4114800" cy="594360"/>
          </a:xfrm>
          <a:prstGeom prst="roundRect">
            <a:avLst>
              <a:gd fmla="val 33846" name="adj"/>
            </a:avLst>
          </a:prstGeom>
          <a:solidFill>
            <a:srgbClr val="06B6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7"/>
          <p:cNvSpPr/>
          <p:nvPr/>
        </p:nvSpPr>
        <p:spPr>
          <a:xfrm>
            <a:off x="274320" y="1371600"/>
            <a:ext cx="4114800" cy="228600"/>
          </a:xfrm>
          <a:prstGeom prst="rect">
            <a:avLst/>
          </a:prstGeom>
          <a:solidFill>
            <a:srgbClr val="06B6D4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3" name="Google Shape;20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1069848"/>
            <a:ext cx="43891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7"/>
          <p:cNvSpPr/>
          <p:nvPr/>
        </p:nvSpPr>
        <p:spPr>
          <a:xfrm>
            <a:off x="914400" y="1033272"/>
            <a:ext cx="33375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300"/>
              <a:buFont typeface="Calibri"/>
              <a:buNone/>
            </a:pPr>
            <a:r>
              <a:rPr b="1" i="0" lang="en-US" sz="1500" u="none" cap="none" strike="noStrik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  Virements Permanents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7"/>
          <p:cNvSpPr/>
          <p:nvPr/>
        </p:nvSpPr>
        <p:spPr>
          <a:xfrm>
            <a:off x="411480" y="1755648"/>
            <a:ext cx="3840480" cy="502920"/>
          </a:xfrm>
          <a:prstGeom prst="roundRect">
            <a:avLst>
              <a:gd fmla="val 18182" name="adj"/>
            </a:avLst>
          </a:prstGeom>
          <a:solidFill>
            <a:srgbClr val="363470">
              <a:alpha val="8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7"/>
          <p:cNvSpPr/>
          <p:nvPr/>
        </p:nvSpPr>
        <p:spPr>
          <a:xfrm>
            <a:off x="502920" y="1773936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DDF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CDDFF"/>
                </a:solidFill>
                <a:latin typeface="Calibri"/>
                <a:ea typeface="Calibri"/>
                <a:cs typeface="Calibri"/>
                <a:sym typeface="Calibri"/>
              </a:rPr>
              <a:t>📌  Planification par jour du mois (1-31)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7"/>
          <p:cNvSpPr/>
          <p:nvPr/>
        </p:nvSpPr>
        <p:spPr>
          <a:xfrm>
            <a:off x="411480" y="2359152"/>
            <a:ext cx="3840480" cy="502920"/>
          </a:xfrm>
          <a:prstGeom prst="roundRect">
            <a:avLst>
              <a:gd fmla="val 18182" name="adj"/>
            </a:avLst>
          </a:prstGeom>
          <a:solidFill>
            <a:srgbClr val="363470">
              <a:alpha val="8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7"/>
          <p:cNvSpPr/>
          <p:nvPr/>
        </p:nvSpPr>
        <p:spPr>
          <a:xfrm>
            <a:off x="502920" y="237744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DDF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CDDFF"/>
                </a:solidFill>
                <a:latin typeface="Calibri"/>
                <a:ea typeface="Calibri"/>
                <a:cs typeface="Calibri"/>
                <a:sym typeface="Calibri"/>
              </a:rPr>
              <a:t>✅  Confirmation avant exécution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7"/>
          <p:cNvSpPr/>
          <p:nvPr/>
        </p:nvSpPr>
        <p:spPr>
          <a:xfrm>
            <a:off x="411480" y="2962656"/>
            <a:ext cx="3840480" cy="502920"/>
          </a:xfrm>
          <a:prstGeom prst="roundRect">
            <a:avLst>
              <a:gd fmla="val 18182" name="adj"/>
            </a:avLst>
          </a:prstGeom>
          <a:solidFill>
            <a:srgbClr val="363470">
              <a:alpha val="8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7"/>
          <p:cNvSpPr/>
          <p:nvPr/>
        </p:nvSpPr>
        <p:spPr>
          <a:xfrm>
            <a:off x="502920" y="2980944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DDF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CDDFF"/>
                </a:solidFill>
                <a:latin typeface="Calibri"/>
                <a:ea typeface="Calibri"/>
                <a:cs typeface="Calibri"/>
                <a:sym typeface="Calibri"/>
              </a:rPr>
              <a:t>🔗  Comptes externes &amp; internes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7"/>
          <p:cNvSpPr/>
          <p:nvPr/>
        </p:nvSpPr>
        <p:spPr>
          <a:xfrm>
            <a:off x="411480" y="3566160"/>
            <a:ext cx="3840480" cy="502920"/>
          </a:xfrm>
          <a:prstGeom prst="roundRect">
            <a:avLst>
              <a:gd fmla="val 18182" name="adj"/>
            </a:avLst>
          </a:prstGeom>
          <a:solidFill>
            <a:srgbClr val="363470">
              <a:alpha val="8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7"/>
          <p:cNvSpPr/>
          <p:nvPr/>
        </p:nvSpPr>
        <p:spPr>
          <a:xfrm>
            <a:off x="502920" y="3584448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DDF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CDDFF"/>
                </a:solidFill>
                <a:latin typeface="Calibri"/>
                <a:ea typeface="Calibri"/>
                <a:cs typeface="Calibri"/>
                <a:sym typeface="Calibri"/>
              </a:rPr>
              <a:t>📋  Résumé récapitulatif affiché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7"/>
          <p:cNvSpPr/>
          <p:nvPr/>
        </p:nvSpPr>
        <p:spPr>
          <a:xfrm>
            <a:off x="411480" y="4169664"/>
            <a:ext cx="3840480" cy="502920"/>
          </a:xfrm>
          <a:prstGeom prst="roundRect">
            <a:avLst>
              <a:gd fmla="val 18182" name="adj"/>
            </a:avLst>
          </a:prstGeom>
          <a:solidFill>
            <a:srgbClr val="363470">
              <a:alpha val="8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7"/>
          <p:cNvSpPr/>
          <p:nvPr/>
        </p:nvSpPr>
        <p:spPr>
          <a:xfrm>
            <a:off x="502920" y="4187952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DDF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CDDFF"/>
                </a:solidFill>
                <a:latin typeface="Calibri"/>
                <a:ea typeface="Calibri"/>
                <a:cs typeface="Calibri"/>
                <a:sym typeface="Calibri"/>
              </a:rPr>
              <a:t>❌  Annulation possible avant validation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7"/>
          <p:cNvSpPr/>
          <p:nvPr/>
        </p:nvSpPr>
        <p:spPr>
          <a:xfrm>
            <a:off x="4754880" y="1005840"/>
            <a:ext cx="4114800" cy="3858768"/>
          </a:xfrm>
          <a:prstGeom prst="roundRect">
            <a:avLst>
              <a:gd fmla="val 5213" name="adj"/>
            </a:avLst>
          </a:prstGeom>
          <a:solidFill>
            <a:srgbClr val="2D2B5B"/>
          </a:solidFill>
          <a:ln>
            <a:noFill/>
          </a:ln>
          <a:effectLst>
            <a:outerShdw blurRad="152400" rotWithShape="0" algn="bl" dir="8100000" dist="50800">
              <a:srgbClr val="EC4899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7"/>
          <p:cNvSpPr/>
          <p:nvPr/>
        </p:nvSpPr>
        <p:spPr>
          <a:xfrm>
            <a:off x="4754875" y="941750"/>
            <a:ext cx="4114800" cy="658500"/>
          </a:xfrm>
          <a:prstGeom prst="roundRect">
            <a:avLst>
              <a:gd fmla="val 33846" name="adj"/>
            </a:avLst>
          </a:prstGeom>
          <a:solidFill>
            <a:srgbClr val="EC48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7"/>
          <p:cNvSpPr/>
          <p:nvPr/>
        </p:nvSpPr>
        <p:spPr>
          <a:xfrm>
            <a:off x="4754880" y="1371600"/>
            <a:ext cx="4114800" cy="228600"/>
          </a:xfrm>
          <a:prstGeom prst="rect">
            <a:avLst/>
          </a:prstGeom>
          <a:solidFill>
            <a:srgbClr val="EC4899"/>
          </a:solidFill>
          <a:ln cap="flat" cmpd="sng" w="12700">
            <a:solidFill>
              <a:srgbClr val="EC48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7"/>
          <p:cNvSpPr/>
          <p:nvPr/>
        </p:nvSpPr>
        <p:spPr>
          <a:xfrm>
            <a:off x="5888050" y="1115624"/>
            <a:ext cx="33375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b="1" i="0" lang="en-US" sz="1500" u="none" cap="none" strike="noStrik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Comptes Secondaires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7"/>
          <p:cNvSpPr/>
          <p:nvPr/>
        </p:nvSpPr>
        <p:spPr>
          <a:xfrm>
            <a:off x="4892040" y="1755648"/>
            <a:ext cx="3840480" cy="768096"/>
          </a:xfrm>
          <a:prstGeom prst="roundRect">
            <a:avLst>
              <a:gd fmla="val 17857" name="adj"/>
            </a:avLst>
          </a:prstGeom>
          <a:solidFill>
            <a:srgbClr val="3634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7"/>
          <p:cNvSpPr/>
          <p:nvPr/>
        </p:nvSpPr>
        <p:spPr>
          <a:xfrm>
            <a:off x="4983480" y="1810512"/>
            <a:ext cx="566928" cy="566928"/>
          </a:xfrm>
          <a:prstGeom prst="ellipse">
            <a:avLst/>
          </a:prstGeom>
          <a:solidFill>
            <a:srgbClr val="FBBF24"/>
          </a:solidFill>
          <a:ln cap="flat" cmpd="sng" w="12700">
            <a:solidFill>
              <a:srgbClr val="FBB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7"/>
          <p:cNvSpPr/>
          <p:nvPr/>
        </p:nvSpPr>
        <p:spPr>
          <a:xfrm>
            <a:off x="4983480" y="1810512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💰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7"/>
          <p:cNvSpPr/>
          <p:nvPr/>
        </p:nvSpPr>
        <p:spPr>
          <a:xfrm>
            <a:off x="5650992" y="1810512"/>
            <a:ext cx="2926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BBF24"/>
                </a:solidFill>
                <a:latin typeface="Calibri"/>
                <a:ea typeface="Calibri"/>
                <a:cs typeface="Calibri"/>
                <a:sym typeface="Calibri"/>
              </a:rPr>
              <a:t>Épargne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7"/>
          <p:cNvSpPr/>
          <p:nvPr/>
        </p:nvSpPr>
        <p:spPr>
          <a:xfrm>
            <a:off x="5650992" y="2103120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BC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Mise de côté à long terme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7"/>
          <p:cNvSpPr/>
          <p:nvPr/>
        </p:nvSpPr>
        <p:spPr>
          <a:xfrm>
            <a:off x="4892040" y="2670048"/>
            <a:ext cx="3840480" cy="768096"/>
          </a:xfrm>
          <a:prstGeom prst="roundRect">
            <a:avLst>
              <a:gd fmla="val 17857" name="adj"/>
            </a:avLst>
          </a:prstGeom>
          <a:solidFill>
            <a:srgbClr val="3634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7"/>
          <p:cNvSpPr/>
          <p:nvPr/>
        </p:nvSpPr>
        <p:spPr>
          <a:xfrm>
            <a:off x="4983480" y="2724912"/>
            <a:ext cx="566928" cy="566928"/>
          </a:xfrm>
          <a:prstGeom prst="ellipse">
            <a:avLst/>
          </a:prstGeom>
          <a:solidFill>
            <a:srgbClr val="F97316"/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7"/>
          <p:cNvSpPr/>
          <p:nvPr/>
        </p:nvSpPr>
        <p:spPr>
          <a:xfrm>
            <a:off x="4983480" y="2724912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🚨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7"/>
          <p:cNvSpPr/>
          <p:nvPr/>
        </p:nvSpPr>
        <p:spPr>
          <a:xfrm>
            <a:off x="5650992" y="2724912"/>
            <a:ext cx="2926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Urgence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7"/>
          <p:cNvSpPr/>
          <p:nvPr/>
        </p:nvSpPr>
        <p:spPr>
          <a:xfrm>
            <a:off x="5650992" y="3017520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BC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Fonds de réserve immédiats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7"/>
          <p:cNvSpPr/>
          <p:nvPr/>
        </p:nvSpPr>
        <p:spPr>
          <a:xfrm>
            <a:off x="4892040" y="3584448"/>
            <a:ext cx="3840480" cy="768096"/>
          </a:xfrm>
          <a:prstGeom prst="roundRect">
            <a:avLst>
              <a:gd fmla="val 17857" name="adj"/>
            </a:avLst>
          </a:prstGeom>
          <a:solidFill>
            <a:srgbClr val="3634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7"/>
          <p:cNvSpPr/>
          <p:nvPr/>
        </p:nvSpPr>
        <p:spPr>
          <a:xfrm>
            <a:off x="4983480" y="3639312"/>
            <a:ext cx="566928" cy="566928"/>
          </a:xfrm>
          <a:prstGeom prst="ellipse">
            <a:avLst/>
          </a:prstGeom>
          <a:solidFill>
            <a:srgbClr val="06B6D4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7"/>
          <p:cNvSpPr/>
          <p:nvPr/>
        </p:nvSpPr>
        <p:spPr>
          <a:xfrm>
            <a:off x="4983480" y="3639312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🛍️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7"/>
          <p:cNvSpPr/>
          <p:nvPr/>
        </p:nvSpPr>
        <p:spPr>
          <a:xfrm>
            <a:off x="5650992" y="3639312"/>
            <a:ext cx="2926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Personnel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7"/>
          <p:cNvSpPr/>
          <p:nvPr/>
        </p:nvSpPr>
        <p:spPr>
          <a:xfrm>
            <a:off x="5650992" y="3931920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BC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ABBCC"/>
                </a:solidFill>
                <a:latin typeface="Calibri"/>
                <a:ea typeface="Calibri"/>
                <a:cs typeface="Calibri"/>
                <a:sym typeface="Calibri"/>
              </a:rPr>
              <a:t>Gestion dépenses courantes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7"/>
          <p:cNvSpPr/>
          <p:nvPr/>
        </p:nvSpPr>
        <p:spPr>
          <a:xfrm>
            <a:off x="1097280" y="4773168"/>
            <a:ext cx="6949440" cy="301752"/>
          </a:xfrm>
          <a:prstGeom prst="roundRect">
            <a:avLst>
              <a:gd fmla="val 45455" name="adj"/>
            </a:avLst>
          </a:prstGeom>
          <a:solidFill>
            <a:srgbClr val="FBBF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7"/>
          <p:cNvSpPr/>
          <p:nvPr/>
        </p:nvSpPr>
        <p:spPr>
          <a:xfrm>
            <a:off x="1097280" y="4773168"/>
            <a:ext cx="694944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🌟  Une solution pédagogique reflétant les vraies fonctionnalités des banques modernes  🌟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6" name="Google Shape;236;p7" title="compte-bancair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54875" y="905250"/>
            <a:ext cx="1023508" cy="76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4FF"/>
        </a:soli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8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7C3AED">
              <a:alpha val="18039"/>
            </a:srgbClr>
          </a:solidFill>
          <a:ln cap="flat" cmpd="sng" w="12700">
            <a:solidFill>
              <a:srgbClr val="7C3AED">
                <a:alpha val="1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8"/>
          <p:cNvSpPr/>
          <p:nvPr/>
        </p:nvSpPr>
        <p:spPr>
          <a:xfrm>
            <a:off x="-457200" y="3200400"/>
            <a:ext cx="2743200" cy="2743200"/>
          </a:xfrm>
          <a:prstGeom prst="ellipse">
            <a:avLst/>
          </a:prstGeom>
          <a:solidFill>
            <a:srgbClr val="EC4899">
              <a:alpha val="18039"/>
            </a:srgbClr>
          </a:solidFill>
          <a:ln cap="flat" cmpd="sng" w="12700">
            <a:solidFill>
              <a:srgbClr val="EC4899">
                <a:alpha val="1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8"/>
          <p:cNvSpPr/>
          <p:nvPr/>
        </p:nvSpPr>
        <p:spPr>
          <a:xfrm>
            <a:off x="137160" y="274320"/>
            <a:ext cx="164592" cy="164592"/>
          </a:xfrm>
          <a:prstGeom prst="ellipse">
            <a:avLst/>
          </a:prstGeom>
          <a:solidFill>
            <a:srgbClr val="FBBF24">
              <a:alpha val="70196"/>
            </a:srgbClr>
          </a:solidFill>
          <a:ln cap="flat" cmpd="sng" w="12700">
            <a:solidFill>
              <a:srgbClr val="FBB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8"/>
          <p:cNvSpPr/>
          <p:nvPr/>
        </p:nvSpPr>
        <p:spPr>
          <a:xfrm>
            <a:off x="8869680" y="457200"/>
            <a:ext cx="118872" cy="118872"/>
          </a:xfrm>
          <a:prstGeom prst="ellipse">
            <a:avLst/>
          </a:prstGeom>
          <a:solidFill>
            <a:srgbClr val="EC4899">
              <a:alpha val="70196"/>
            </a:srgbClr>
          </a:solidFill>
          <a:ln cap="flat" cmpd="sng" w="12700">
            <a:solidFill>
              <a:srgbClr val="EC48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8"/>
          <p:cNvSpPr/>
          <p:nvPr/>
        </p:nvSpPr>
        <p:spPr>
          <a:xfrm>
            <a:off x="365760" y="4480560"/>
            <a:ext cx="137160" cy="137160"/>
          </a:xfrm>
          <a:prstGeom prst="ellipse">
            <a:avLst/>
          </a:prstGeom>
          <a:solidFill>
            <a:srgbClr val="06B6D4">
              <a:alpha val="70196"/>
            </a:srgbClr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8"/>
          <p:cNvSpPr/>
          <p:nvPr/>
        </p:nvSpPr>
        <p:spPr>
          <a:xfrm>
            <a:off x="8686800" y="4206240"/>
            <a:ext cx="182880" cy="182880"/>
          </a:xfrm>
          <a:prstGeom prst="ellipse">
            <a:avLst/>
          </a:prstGeom>
          <a:solidFill>
            <a:srgbClr val="F97316">
              <a:alpha val="70196"/>
            </a:srgbClr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8"/>
          <p:cNvSpPr/>
          <p:nvPr/>
        </p:nvSpPr>
        <p:spPr>
          <a:xfrm>
            <a:off x="4572000" y="4754880"/>
            <a:ext cx="109728" cy="109728"/>
          </a:xfrm>
          <a:prstGeom prst="ellipse">
            <a:avLst/>
          </a:prstGeom>
          <a:solidFill>
            <a:srgbClr val="10B981">
              <a:alpha val="70196"/>
            </a:srgbClr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8"/>
          <p:cNvSpPr/>
          <p:nvPr/>
        </p:nvSpPr>
        <p:spPr>
          <a:xfrm>
            <a:off x="2560320" y="137160"/>
            <a:ext cx="91440" cy="91440"/>
          </a:xfrm>
          <a:prstGeom prst="ellipse">
            <a:avLst/>
          </a:prstGeom>
          <a:solidFill>
            <a:srgbClr val="EC4899">
              <a:alpha val="70196"/>
            </a:srgbClr>
          </a:solidFill>
          <a:ln cap="flat" cmpd="sng" w="12700">
            <a:solidFill>
              <a:srgbClr val="EC48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8"/>
          <p:cNvSpPr/>
          <p:nvPr/>
        </p:nvSpPr>
        <p:spPr>
          <a:xfrm>
            <a:off x="6858000" y="4846320"/>
            <a:ext cx="128016" cy="128016"/>
          </a:xfrm>
          <a:prstGeom prst="ellipse">
            <a:avLst/>
          </a:prstGeom>
          <a:solidFill>
            <a:srgbClr val="FBBF24">
              <a:alpha val="70196"/>
            </a:srgbClr>
          </a:solidFill>
          <a:ln cap="flat" cmpd="sng" w="12700">
            <a:solidFill>
              <a:srgbClr val="FBB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8"/>
          <p:cNvSpPr/>
          <p:nvPr/>
        </p:nvSpPr>
        <p:spPr>
          <a:xfrm>
            <a:off x="8412480" y="2286000"/>
            <a:ext cx="91440" cy="91440"/>
          </a:xfrm>
          <a:prstGeom prst="ellipse">
            <a:avLst/>
          </a:prstGeom>
          <a:solidFill>
            <a:srgbClr val="06B6D4">
              <a:alpha val="70196"/>
            </a:srgbClr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8"/>
          <p:cNvSpPr/>
          <p:nvPr/>
        </p:nvSpPr>
        <p:spPr>
          <a:xfrm>
            <a:off x="182880" y="2560320"/>
            <a:ext cx="109728" cy="109728"/>
          </a:xfrm>
          <a:prstGeom prst="ellipse">
            <a:avLst/>
          </a:prstGeom>
          <a:solidFill>
            <a:srgbClr val="F97316">
              <a:alpha val="70196"/>
            </a:srgbClr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8"/>
          <p:cNvSpPr/>
          <p:nvPr/>
        </p:nvSpPr>
        <p:spPr>
          <a:xfrm>
            <a:off x="365760" y="109728"/>
            <a:ext cx="7315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5200"/>
              <a:buFont typeface="Arial Black"/>
              <a:buNone/>
            </a:pPr>
            <a:r>
              <a:rPr b="1" i="0" lang="en-US" sz="5200" u="none" cap="none" strike="noStrike">
                <a:solidFill>
                  <a:srgbClr val="7C3AED"/>
                </a:solidFill>
                <a:latin typeface="Arial Black"/>
                <a:ea typeface="Arial Black"/>
                <a:cs typeface="Arial Black"/>
                <a:sym typeface="Arial Black"/>
              </a:rPr>
              <a:t>CONCLUSION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8"/>
          <p:cNvSpPr/>
          <p:nvPr/>
        </p:nvSpPr>
        <p:spPr>
          <a:xfrm>
            <a:off x="365760" y="896112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4899"/>
              </a:buClr>
              <a:buSzPts val="3600"/>
              <a:buFont typeface="Arial Black"/>
              <a:buNone/>
            </a:pPr>
            <a:r>
              <a:rPr b="1" i="0" lang="en-US" sz="3600" u="none" cap="none" strike="noStrike">
                <a:solidFill>
                  <a:srgbClr val="EC4899"/>
                </a:solidFill>
                <a:latin typeface="Arial Black"/>
                <a:ea typeface="Arial Black"/>
                <a:cs typeface="Arial Black"/>
                <a:sym typeface="Arial Black"/>
              </a:rPr>
              <a:t>&amp; PERSPECTIVES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55" name="Google Shape;25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52360" y="91440"/>
            <a:ext cx="1371600" cy="137160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8"/>
          <p:cNvSpPr/>
          <p:nvPr/>
        </p:nvSpPr>
        <p:spPr>
          <a:xfrm>
            <a:off x="365760" y="1664208"/>
            <a:ext cx="5394960" cy="438912"/>
          </a:xfrm>
          <a:prstGeom prst="roundRect">
            <a:avLst>
              <a:gd fmla="val 45833" name="adj"/>
            </a:avLst>
          </a:prstGeom>
          <a:solidFill>
            <a:srgbClr val="7C3AED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8"/>
          <p:cNvSpPr/>
          <p:nvPr/>
        </p:nvSpPr>
        <p:spPr>
          <a:xfrm>
            <a:off x="365760" y="1664208"/>
            <a:ext cx="64008" cy="438912"/>
          </a:xfrm>
          <a:prstGeom prst="roundRect">
            <a:avLst>
              <a:gd fmla="val 42857" name="adj"/>
            </a:avLst>
          </a:prstGeom>
          <a:solidFill>
            <a:srgbClr val="7C3A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8"/>
          <p:cNvSpPr/>
          <p:nvPr/>
        </p:nvSpPr>
        <p:spPr>
          <a:xfrm>
            <a:off x="502920" y="1682496"/>
            <a:ext cx="51663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✅  Application Java 100% fonctionnelle — 10 features bancaires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8"/>
          <p:cNvSpPr/>
          <p:nvPr/>
        </p:nvSpPr>
        <p:spPr>
          <a:xfrm>
            <a:off x="365760" y="2176272"/>
            <a:ext cx="5394960" cy="438912"/>
          </a:xfrm>
          <a:prstGeom prst="roundRect">
            <a:avLst>
              <a:gd fmla="val 45833" name="adj"/>
            </a:avLst>
          </a:prstGeom>
          <a:solidFill>
            <a:srgbClr val="EC4899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8"/>
          <p:cNvSpPr/>
          <p:nvPr/>
        </p:nvSpPr>
        <p:spPr>
          <a:xfrm>
            <a:off x="365760" y="2176272"/>
            <a:ext cx="64008" cy="438912"/>
          </a:xfrm>
          <a:prstGeom prst="roundRect">
            <a:avLst>
              <a:gd fmla="val 42857" name="adj"/>
            </a:avLst>
          </a:prstGeom>
          <a:solidFill>
            <a:srgbClr val="EC48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8"/>
          <p:cNvSpPr/>
          <p:nvPr/>
        </p:nvSpPr>
        <p:spPr>
          <a:xfrm>
            <a:off x="502920" y="2194560"/>
            <a:ext cx="51663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✅  Architecture POO propre : 2 classes + collections natives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8"/>
          <p:cNvSpPr/>
          <p:nvPr/>
        </p:nvSpPr>
        <p:spPr>
          <a:xfrm>
            <a:off x="365760" y="2688336"/>
            <a:ext cx="5394960" cy="438912"/>
          </a:xfrm>
          <a:prstGeom prst="roundRect">
            <a:avLst>
              <a:gd fmla="val 45833" name="adj"/>
            </a:avLst>
          </a:prstGeom>
          <a:solidFill>
            <a:srgbClr val="06B6D4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8"/>
          <p:cNvSpPr/>
          <p:nvPr/>
        </p:nvSpPr>
        <p:spPr>
          <a:xfrm>
            <a:off x="365760" y="2688336"/>
            <a:ext cx="64008" cy="438912"/>
          </a:xfrm>
          <a:prstGeom prst="roundRect">
            <a:avLst>
              <a:gd fmla="val 42857" name="adj"/>
            </a:avLst>
          </a:prstGeom>
          <a:solidFill>
            <a:srgbClr val="06B6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8"/>
          <p:cNvSpPr/>
          <p:nvPr/>
        </p:nvSpPr>
        <p:spPr>
          <a:xfrm>
            <a:off x="502920" y="2706624"/>
            <a:ext cx="51663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✅  UX console claire en français avec messages de validation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8"/>
          <p:cNvSpPr/>
          <p:nvPr/>
        </p:nvSpPr>
        <p:spPr>
          <a:xfrm>
            <a:off x="365760" y="3200400"/>
            <a:ext cx="5394960" cy="438912"/>
          </a:xfrm>
          <a:prstGeom prst="roundRect">
            <a:avLst>
              <a:gd fmla="val 45833" name="adj"/>
            </a:avLst>
          </a:prstGeom>
          <a:solidFill>
            <a:srgbClr val="F97316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8"/>
          <p:cNvSpPr/>
          <p:nvPr/>
        </p:nvSpPr>
        <p:spPr>
          <a:xfrm>
            <a:off x="365760" y="3200400"/>
            <a:ext cx="64008" cy="438912"/>
          </a:xfrm>
          <a:prstGeom prst="roundRect">
            <a:avLst>
              <a:gd fmla="val 42857" name="adj"/>
            </a:avLst>
          </a:prstGeom>
          <a:solidFill>
            <a:srgbClr val="F973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8"/>
          <p:cNvSpPr/>
          <p:nvPr/>
        </p:nvSpPr>
        <p:spPr>
          <a:xfrm>
            <a:off x="502920" y="3218688"/>
            <a:ext cx="51663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✅  Sécurité : authentification par identifiant unique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8"/>
          <p:cNvSpPr/>
          <p:nvPr/>
        </p:nvSpPr>
        <p:spPr>
          <a:xfrm>
            <a:off x="6080760" y="1572768"/>
            <a:ext cx="2834640" cy="3337560"/>
          </a:xfrm>
          <a:prstGeom prst="roundRect">
            <a:avLst>
              <a:gd fmla="val 7097" name="adj"/>
            </a:avLst>
          </a:prstGeom>
          <a:solidFill>
            <a:srgbClr val="1E1B4B"/>
          </a:solidFill>
          <a:ln>
            <a:noFill/>
          </a:ln>
          <a:effectLst>
            <a:outerShdw blurRad="152400" rotWithShape="0" algn="bl" dir="8100000" dist="50800">
              <a:srgbClr val="7C3AED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8"/>
          <p:cNvSpPr/>
          <p:nvPr/>
        </p:nvSpPr>
        <p:spPr>
          <a:xfrm>
            <a:off x="6080760" y="1572768"/>
            <a:ext cx="2834640" cy="502920"/>
          </a:xfrm>
          <a:prstGeom prst="roundRect">
            <a:avLst>
              <a:gd fmla="val 40000" name="adj"/>
            </a:avLst>
          </a:prstGeom>
          <a:solidFill>
            <a:srgbClr val="F973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8"/>
          <p:cNvSpPr/>
          <p:nvPr/>
        </p:nvSpPr>
        <p:spPr>
          <a:xfrm>
            <a:off x="6080760" y="1874520"/>
            <a:ext cx="2834640" cy="201168"/>
          </a:xfrm>
          <a:prstGeom prst="rect">
            <a:avLst/>
          </a:prstGeom>
          <a:solidFill>
            <a:srgbClr val="F97316"/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8"/>
          <p:cNvSpPr/>
          <p:nvPr/>
        </p:nvSpPr>
        <p:spPr>
          <a:xfrm>
            <a:off x="6144768" y="1591056"/>
            <a:ext cx="2697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🔭  Perspectives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8"/>
          <p:cNvSpPr/>
          <p:nvPr/>
        </p:nvSpPr>
        <p:spPr>
          <a:xfrm>
            <a:off x="6199632" y="2176272"/>
            <a:ext cx="26517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DDF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CDDFF"/>
                </a:solidFill>
                <a:latin typeface="Calibri"/>
                <a:ea typeface="Calibri"/>
                <a:cs typeface="Calibri"/>
                <a:sym typeface="Calibri"/>
              </a:rPr>
              <a:t>🎨  Interface graphique (JavaFX)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8"/>
          <p:cNvSpPr/>
          <p:nvPr/>
        </p:nvSpPr>
        <p:spPr>
          <a:xfrm>
            <a:off x="6199632" y="2688336"/>
            <a:ext cx="26517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DDF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CDDFF"/>
                </a:solidFill>
                <a:latin typeface="Calibri"/>
                <a:ea typeface="Calibri"/>
                <a:cs typeface="Calibri"/>
                <a:sym typeface="Calibri"/>
              </a:rPr>
              <a:t>🗄️  Base de données (MySQL)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8"/>
          <p:cNvSpPr/>
          <p:nvPr/>
        </p:nvSpPr>
        <p:spPr>
          <a:xfrm>
            <a:off x="6199632" y="3200400"/>
            <a:ext cx="26517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DDF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CDDFF"/>
                </a:solidFill>
                <a:latin typeface="Calibri"/>
                <a:ea typeface="Calibri"/>
                <a:cs typeface="Calibri"/>
                <a:sym typeface="Calibri"/>
              </a:rPr>
              <a:t>📜  Historique de transactions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8"/>
          <p:cNvSpPr/>
          <p:nvPr/>
        </p:nvSpPr>
        <p:spPr>
          <a:xfrm>
            <a:off x="6199632" y="3712464"/>
            <a:ext cx="26517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DDF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CDDFF"/>
                </a:solidFill>
                <a:latin typeface="Calibri"/>
                <a:ea typeface="Calibri"/>
                <a:cs typeface="Calibri"/>
                <a:sym typeface="Calibri"/>
              </a:rPr>
              <a:t>🔑  Authentification par PIN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8"/>
          <p:cNvSpPr/>
          <p:nvPr/>
        </p:nvSpPr>
        <p:spPr>
          <a:xfrm>
            <a:off x="6199632" y="4224528"/>
            <a:ext cx="26517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DDF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CDDFF"/>
                </a:solidFill>
                <a:latin typeface="Calibri"/>
                <a:ea typeface="Calibri"/>
                <a:cs typeface="Calibri"/>
                <a:sym typeface="Calibri"/>
              </a:rPr>
              <a:t>📄  Export PDF des relevés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8"/>
          <p:cNvSpPr/>
          <p:nvPr/>
        </p:nvSpPr>
        <p:spPr>
          <a:xfrm>
            <a:off x="365760" y="3822192"/>
            <a:ext cx="5394960" cy="960120"/>
          </a:xfrm>
          <a:prstGeom prst="roundRect">
            <a:avLst>
              <a:gd fmla="val 17143" name="adj"/>
            </a:avLst>
          </a:prstGeom>
          <a:solidFill>
            <a:srgbClr val="EDE9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8"/>
          <p:cNvSpPr/>
          <p:nvPr/>
        </p:nvSpPr>
        <p:spPr>
          <a:xfrm>
            <a:off x="256032" y="3730752"/>
            <a:ext cx="457200" cy="457200"/>
          </a:xfrm>
          <a:prstGeom prst="ellipse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8"/>
          <p:cNvSpPr/>
          <p:nvPr/>
        </p:nvSpPr>
        <p:spPr>
          <a:xfrm>
            <a:off x="256032" y="373075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❝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8"/>
          <p:cNvSpPr/>
          <p:nvPr/>
        </p:nvSpPr>
        <p:spPr>
          <a:xfrm>
            <a:off x="502920" y="3858768"/>
            <a:ext cx="512064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1D95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4C1D95"/>
                </a:solidFill>
                <a:latin typeface="Calibri"/>
                <a:ea typeface="Calibri"/>
                <a:cs typeface="Calibri"/>
                <a:sym typeface="Calibri"/>
              </a:rPr>
              <a:t>Ce projet nous a permis de transformer la théorie de la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1D95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4C1D95"/>
                </a:solidFill>
                <a:latin typeface="Calibri"/>
                <a:ea typeface="Calibri"/>
                <a:cs typeface="Calibri"/>
                <a:sym typeface="Calibri"/>
              </a:rPr>
              <a:t>POO Java en une solution concrète et professionnelle.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8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8"/>
          <p:cNvSpPr/>
          <p:nvPr/>
        </p:nvSpPr>
        <p:spPr>
          <a:xfrm>
            <a:off x="182880" y="4818888"/>
            <a:ext cx="8778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🎉  Merci pour votre attention  —  Sirine Jemai &amp; Alaa Fessi  —  ISET Médenine 2025/2026  🎉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